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1078" autoAdjust="0"/>
  </p:normalViewPr>
  <p:slideViewPr>
    <p:cSldViewPr snapToGrid="0">
      <p:cViewPr varScale="1">
        <p:scale>
          <a:sx n="90" d="100"/>
          <a:sy n="90" d="100"/>
        </p:scale>
        <p:origin x="1278" y="78"/>
      </p:cViewPr>
      <p:guideLst/>
    </p:cSldViewPr>
  </p:slideViewPr>
  <p:notesTextViewPr>
    <p:cViewPr>
      <p:scale>
        <a:sx n="1" d="1"/>
        <a:sy n="1" d="1"/>
      </p:scale>
      <p:origin x="0" y="-18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6DA5D9-DA60-4219-B2EE-D25DF2EA7A77}"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287474-66C2-43E4-9167-356F4405ACF8}" type="slidenum">
              <a:rPr lang="en-US" smtClean="0"/>
              <a:t>‹#›</a:t>
            </a:fld>
            <a:endParaRPr lang="en-US"/>
          </a:p>
        </p:txBody>
      </p:sp>
    </p:spTree>
    <p:extLst>
      <p:ext uri="{BB962C8B-B14F-4D97-AF65-F5344CB8AC3E}">
        <p14:creationId xmlns:p14="http://schemas.microsoft.com/office/powerpoint/2010/main" val="2727583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Good morning. Let's start with a number that should concern every executive in the construction and retail space: nine out of ten. That's how many large projects fail to meet their budget.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We're not talking about minor variances. We're seeing projects run up to 80% over budget and finish 20% behind schedule. The industry average for cost overruns is a staggering 28%.</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What's driving this? Three core issues: First, inaccurate manual estimates that set projects up for failure from day one. Second, inefficient vendor management, where poor communication and a lack of real-time data lead to costly procurement delays. And third, the constant churn of design changes, which can single-handedly derail a budget. In fact, studies show poor communication is the root cause of project failure one-third of the time.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a premium brand like Tanishq, this isn't just a financial leak; it's a strategic threat. Every overrun erodes our profitability, every delay in a store opening is a missed market opportunity, and every inconsistency in execution risks diluting the premium brand image we have worked so hard to build. The problem is clear, it's quantifiable, and it demands a modern solution.</a:t>
            </a:r>
          </a:p>
          <a:p>
            <a:endParaRPr lang="en-US" dirty="0"/>
          </a:p>
        </p:txBody>
      </p:sp>
      <p:sp>
        <p:nvSpPr>
          <p:cNvPr id="4" name="Slide Number Placeholder 3"/>
          <p:cNvSpPr>
            <a:spLocks noGrp="1"/>
          </p:cNvSpPr>
          <p:nvPr>
            <p:ph type="sldNum" sz="quarter" idx="5"/>
          </p:nvPr>
        </p:nvSpPr>
        <p:spPr/>
        <p:txBody>
          <a:bodyPr/>
          <a:lstStyle/>
          <a:p>
            <a:fld id="{5D287474-66C2-43E4-9167-356F4405ACF8}" type="slidenum">
              <a:rPr lang="en-US" smtClean="0"/>
              <a:t>2</a:t>
            </a:fld>
            <a:endParaRPr lang="en-US"/>
          </a:p>
        </p:txBody>
      </p:sp>
    </p:spTree>
    <p:extLst>
      <p:ext uri="{BB962C8B-B14F-4D97-AF65-F5344CB8AC3E}">
        <p14:creationId xmlns:p14="http://schemas.microsoft.com/office/powerpoint/2010/main" val="1227964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why is solving this problem so critical right now? Because the solution presents a massive opportunity. This isn't just about plugging a financial hole; it's about building a significant competitive advantage.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From a managerial perspective, the return on investment is compelling. Firms that have embraced digital modeling are already reporting 20-30% reductions in project costs. The ROI on digital transformation initiatives is averaging 3.5 times the initial investment. Think about what a 20% cost reduction on every new store rollout would mean for our bottom line. Furthermore, digital tools bring speed. We can complete projects up to 25% faster and generate estimates 80% more quickly. That's faster market entry and a more agile response to new opportunities.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Industrially, the tectonic plates are shifting. The construction tech market is projected to more than triple, hitting $45 billion by 2030. Adopting these tools is no longer a 'nice-to-have'—it's a competitive necessity. The companies that harness this technology will be the ones who can deliver projects with precision and predictability. The ones who don't will be left dealing with the same costly overruns. This project is about ensuring Tanishq is on the right side of that divide.</a:t>
            </a:r>
          </a:p>
          <a:p>
            <a:endParaRPr lang="en-US" dirty="0"/>
          </a:p>
        </p:txBody>
      </p:sp>
      <p:sp>
        <p:nvSpPr>
          <p:cNvPr id="4" name="Slide Number Placeholder 3"/>
          <p:cNvSpPr>
            <a:spLocks noGrp="1"/>
          </p:cNvSpPr>
          <p:nvPr>
            <p:ph type="sldNum" sz="quarter" idx="5"/>
          </p:nvPr>
        </p:nvSpPr>
        <p:spPr/>
        <p:txBody>
          <a:bodyPr/>
          <a:lstStyle/>
          <a:p>
            <a:fld id="{5D287474-66C2-43E4-9167-356F4405ACF8}" type="slidenum">
              <a:rPr lang="en-US" smtClean="0"/>
              <a:t>3</a:t>
            </a:fld>
            <a:endParaRPr lang="en-US"/>
          </a:p>
        </p:txBody>
      </p:sp>
    </p:spTree>
    <p:extLst>
      <p:ext uri="{BB962C8B-B14F-4D97-AF65-F5344CB8AC3E}">
        <p14:creationId xmlns:p14="http://schemas.microsoft.com/office/powerpoint/2010/main" val="3113700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With that context, the mission of this project is both focused and ambitious.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Our primary objective is to develop a strategic framework that integrates digital estimation and vendor management. The goal is not marginal improvement; we are targeting a 15-20% reduction in project cost overruns.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get there, we have two key goals. First, we will validate precisely how digital estimation tools can drive budget accuracy and eliminate the guesswork from our initial planning. Second, we will prove how a centralized vendor management system can directly reduce procurement costs, streamline communication, and secure our supply chain.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scope of this study is intentionally precise. We are focusing exclusively on the interior fit-out phase for new Tanishq showrooms—the phase with the most variables and the highest risk of overruns. We will analyze our own historical project data and benchmark it against the best-in-class market solutions to build a business case that is directly relevant to our operations.</a:t>
            </a:r>
          </a:p>
          <a:p>
            <a:endParaRPr lang="en-US" dirty="0"/>
          </a:p>
        </p:txBody>
      </p:sp>
      <p:sp>
        <p:nvSpPr>
          <p:cNvPr id="4" name="Slide Number Placeholder 3"/>
          <p:cNvSpPr>
            <a:spLocks noGrp="1"/>
          </p:cNvSpPr>
          <p:nvPr>
            <p:ph type="sldNum" sz="quarter" idx="5"/>
          </p:nvPr>
        </p:nvSpPr>
        <p:spPr/>
        <p:txBody>
          <a:bodyPr/>
          <a:lstStyle/>
          <a:p>
            <a:fld id="{5D287474-66C2-43E4-9167-356F4405ACF8}" type="slidenum">
              <a:rPr lang="en-US" smtClean="0"/>
              <a:t>4</a:t>
            </a:fld>
            <a:endParaRPr lang="en-US"/>
          </a:p>
        </p:txBody>
      </p:sp>
    </p:spTree>
    <p:extLst>
      <p:ext uri="{BB962C8B-B14F-4D97-AF65-F5344CB8AC3E}">
        <p14:creationId xmlns:p14="http://schemas.microsoft.com/office/powerpoint/2010/main" val="1045954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approach to this is practical and data-driven, designed to produce an actionable business case.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First, we will conduct a quantitative analysis of past Tanishq projects to pinpoint exactly where, when, and why cost leakages occur. This data will be enriched with qualitative insights from interviews with our own project managers and key vendors to understand the real-world friction points.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Second, we will perform a thorough benchmarking of the leading digital software platforms available today. We won't just look at features; we will assess their ROI potential and suitability for a high-end retail environment like ours.</a:t>
            </a:r>
          </a:p>
          <a:p>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The </a:t>
            </a:r>
            <a:r>
              <a:rPr lang="en-US" sz="1200" b="0" i="0" kern="1200" dirty="0">
                <a:solidFill>
                  <a:schemeClr val="tx1"/>
                </a:solidFill>
                <a:effectLst/>
                <a:latin typeface="+mn-lt"/>
                <a:ea typeface="+mn-ea"/>
                <a:cs typeface="+mn-cs"/>
              </a:rPr>
              <a:t>final deliverable will be a strategic framework—a clear, evidence-based implementation roadmap. It will include a detailed cost-benefit analysis and a clear projection of the return on investment. The goal is to provide a definitive 'go-no-go' recommendation for executive decision-making, demonstrating how a strategic investment in technology can secure on-budget, on-time project delivery for Tanishq's future growth.</a:t>
            </a:r>
          </a:p>
          <a:p>
            <a:endParaRPr lang="en-US" dirty="0"/>
          </a:p>
        </p:txBody>
      </p:sp>
      <p:sp>
        <p:nvSpPr>
          <p:cNvPr id="4" name="Slide Number Placeholder 3"/>
          <p:cNvSpPr>
            <a:spLocks noGrp="1"/>
          </p:cNvSpPr>
          <p:nvPr>
            <p:ph type="sldNum" sz="quarter" idx="5"/>
          </p:nvPr>
        </p:nvSpPr>
        <p:spPr/>
        <p:txBody>
          <a:bodyPr/>
          <a:lstStyle/>
          <a:p>
            <a:fld id="{5D287474-66C2-43E4-9167-356F4405ACF8}" type="slidenum">
              <a:rPr lang="en-US" smtClean="0"/>
              <a:t>5</a:t>
            </a:fld>
            <a:endParaRPr lang="en-US"/>
          </a:p>
        </p:txBody>
      </p:sp>
    </p:spTree>
    <p:extLst>
      <p:ext uri="{BB962C8B-B14F-4D97-AF65-F5344CB8AC3E}">
        <p14:creationId xmlns:p14="http://schemas.microsoft.com/office/powerpoint/2010/main" val="3253415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ACE0C-E590-F112-EC22-F46A4AC5B5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6F8609-0ED9-7C88-BCAE-EC972D7701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7DBBF4-72D2-A453-B10A-7B7A44F4022E}"/>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5" name="Footer Placeholder 4">
            <a:extLst>
              <a:ext uri="{FF2B5EF4-FFF2-40B4-BE49-F238E27FC236}">
                <a16:creationId xmlns:a16="http://schemas.microsoft.com/office/drawing/2014/main" id="{DB64D06B-DDBD-5897-355A-0618D193AD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16A1F0-C9C9-41E8-084B-9AD33E94BB6F}"/>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3010012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9A61E-3D14-05C6-EF30-8CF88F750D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4A66F-691C-32F7-A818-C4C80A8407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FC825D-D536-CA70-DD38-19E98E938E54}"/>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5" name="Footer Placeholder 4">
            <a:extLst>
              <a:ext uri="{FF2B5EF4-FFF2-40B4-BE49-F238E27FC236}">
                <a16:creationId xmlns:a16="http://schemas.microsoft.com/office/drawing/2014/main" id="{F31A70E4-8376-0520-351F-3E2B3DE8E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19CF51-FBE7-D69F-7850-3FF9656793F3}"/>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2882854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41CDD-20FE-876E-5CED-7560C6B174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41699D-26B9-3A6C-7859-BEB7806A5B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0572D4-0DFA-2090-A375-0BA80A873030}"/>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5" name="Footer Placeholder 4">
            <a:extLst>
              <a:ext uri="{FF2B5EF4-FFF2-40B4-BE49-F238E27FC236}">
                <a16:creationId xmlns:a16="http://schemas.microsoft.com/office/drawing/2014/main" id="{10CC94BF-E1BC-220D-F45E-A397F2EF26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79D72E-51AD-90DA-10B1-CB91D6BE466F}"/>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20727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4B9FD-94D7-34AF-CD93-EDB15AFACF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5006DC-ED08-EEF5-7508-8F1DC3874D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FC7AAA-9339-0362-0ABF-8218E0D287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EDED92-D1A1-BEC6-4A7B-2CAF9422208A}"/>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6" name="Footer Placeholder 5">
            <a:extLst>
              <a:ext uri="{FF2B5EF4-FFF2-40B4-BE49-F238E27FC236}">
                <a16:creationId xmlns:a16="http://schemas.microsoft.com/office/drawing/2014/main" id="{C64F3BCB-BECF-49FC-B189-AD177661BC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55E1CB-5BC6-1BB2-2AF3-DF3EB3150FB5}"/>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1395630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457C4-C712-8311-7EF6-596517C5C5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532768-8464-B86A-891D-227B30B254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1A26DA-317D-6569-05AE-0166D3621D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8B62C6-32D6-4960-67BD-46C840533A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504635-1BBB-DB47-E0C0-0E9DE00DB4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F8A8CF-D720-C012-AABD-E19D877B3E91}"/>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8" name="Footer Placeholder 7">
            <a:extLst>
              <a:ext uri="{FF2B5EF4-FFF2-40B4-BE49-F238E27FC236}">
                <a16:creationId xmlns:a16="http://schemas.microsoft.com/office/drawing/2014/main" id="{D6BE4659-BC57-98A5-891D-9233E69272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E5C3B7-1EA7-A49C-3956-720A27B7B345}"/>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4189754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F1A92-B461-CBCC-D855-274BDB0429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16DCB7-B750-9083-EF9C-8C5AA900CD74}"/>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4" name="Footer Placeholder 3">
            <a:extLst>
              <a:ext uri="{FF2B5EF4-FFF2-40B4-BE49-F238E27FC236}">
                <a16:creationId xmlns:a16="http://schemas.microsoft.com/office/drawing/2014/main" id="{83C859BE-C691-4ABB-10CA-9A27F60949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6D84C5-8340-C3D3-3873-F4CCF454D065}"/>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1955214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BCA3F-CA53-A863-8CF1-D9B1903088EB}"/>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3" name="Footer Placeholder 2">
            <a:extLst>
              <a:ext uri="{FF2B5EF4-FFF2-40B4-BE49-F238E27FC236}">
                <a16:creationId xmlns:a16="http://schemas.microsoft.com/office/drawing/2014/main" id="{3F920909-7AB4-0B7D-AE24-7A5E7C2640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2511BCD-64B6-BF5E-B6EB-A49EF8F5A571}"/>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131325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F58FF-A3DB-D67B-E515-750849782A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943EE1-7D77-B4E6-4CA9-D3C797A8D9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DC746B-4375-458C-7D27-BB96B6172E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30DA76-11DB-02B5-73D9-64AF15F5D9D8}"/>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6" name="Footer Placeholder 5">
            <a:extLst>
              <a:ext uri="{FF2B5EF4-FFF2-40B4-BE49-F238E27FC236}">
                <a16:creationId xmlns:a16="http://schemas.microsoft.com/office/drawing/2014/main" id="{F6232AF9-AF77-C21B-D783-F8A8DDDCFF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7B5404-72B0-B85A-1B1B-323854AC50C6}"/>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83908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06EF9-D88B-F5FF-9E47-56F9822BED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AAC68E-559A-F0EA-3BE0-2A62BD47F0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4D6CDB-8965-9BDE-7A3D-A4A1DA12E4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24F5A0-E623-3E12-8ACF-A890D06288F3}"/>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6" name="Footer Placeholder 5">
            <a:extLst>
              <a:ext uri="{FF2B5EF4-FFF2-40B4-BE49-F238E27FC236}">
                <a16:creationId xmlns:a16="http://schemas.microsoft.com/office/drawing/2014/main" id="{B89588B1-08F8-A24B-3DD8-6E582D557E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FB8BD9-FA46-3723-86E2-DEFB3ADDA16F}"/>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28546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84713-0651-87BB-F8B2-3BD56D7027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1EA3C5-9C23-6314-BBFB-586C33A408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AA045F-E12F-916E-A43A-0C0B14D6299F}"/>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5" name="Footer Placeholder 4">
            <a:extLst>
              <a:ext uri="{FF2B5EF4-FFF2-40B4-BE49-F238E27FC236}">
                <a16:creationId xmlns:a16="http://schemas.microsoft.com/office/drawing/2014/main" id="{A5E4C994-B4F2-0BB8-66BC-B9A62AC58B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BB82D6-B484-27F1-B808-F17341168195}"/>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3799960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6F2279-BF6E-6CB4-9FC3-0440F73CC3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BFFF09-59D0-404A-3F82-970FB5ADAC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A28CCB-F022-7439-FC37-851798539A74}"/>
              </a:ext>
            </a:extLst>
          </p:cNvPr>
          <p:cNvSpPr>
            <a:spLocks noGrp="1"/>
          </p:cNvSpPr>
          <p:nvPr>
            <p:ph type="dt" sz="half" idx="10"/>
          </p:nvPr>
        </p:nvSpPr>
        <p:spPr/>
        <p:txBody>
          <a:bodyPr/>
          <a:lstStyle/>
          <a:p>
            <a:fld id="{AC3BDF85-7D8D-4BEB-AB15-7D5DA0652194}" type="datetimeFigureOut">
              <a:rPr lang="en-US" smtClean="0"/>
              <a:t>3/29/2026</a:t>
            </a:fld>
            <a:endParaRPr lang="en-US"/>
          </a:p>
        </p:txBody>
      </p:sp>
      <p:sp>
        <p:nvSpPr>
          <p:cNvPr id="5" name="Footer Placeholder 4">
            <a:extLst>
              <a:ext uri="{FF2B5EF4-FFF2-40B4-BE49-F238E27FC236}">
                <a16:creationId xmlns:a16="http://schemas.microsoft.com/office/drawing/2014/main" id="{CF51C142-2141-83E6-8BA3-4FCE96ACE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CC69D8-7511-D4A1-CE01-50B22D44292F}"/>
              </a:ext>
            </a:extLst>
          </p:cNvPr>
          <p:cNvSpPr>
            <a:spLocks noGrp="1"/>
          </p:cNvSpPr>
          <p:nvPr>
            <p:ph type="sldNum" sz="quarter" idx="12"/>
          </p:nvPr>
        </p:nvSpPr>
        <p:spPr/>
        <p:txBody>
          <a:bodyPr/>
          <a:lstStyle/>
          <a:p>
            <a:fld id="{7A616973-8972-43CE-9554-7DBC3D65FEB5}" type="slidenum">
              <a:rPr lang="en-US" smtClean="0"/>
              <a:t>‹#›</a:t>
            </a:fld>
            <a:endParaRPr lang="en-US"/>
          </a:p>
        </p:txBody>
      </p:sp>
    </p:spTree>
    <p:extLst>
      <p:ext uri="{BB962C8B-B14F-4D97-AF65-F5344CB8AC3E}">
        <p14:creationId xmlns:p14="http://schemas.microsoft.com/office/powerpoint/2010/main" val="1171865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7CDFC2-F4B6-7AE9-73A7-2EE3258F82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AA3CEA-C6AC-2741-8A39-F7D5FDA10F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E38DDE-3FBE-C506-A155-F389913C16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3BDF85-7D8D-4BEB-AB15-7D5DA0652194}" type="datetimeFigureOut">
              <a:rPr lang="en-US" smtClean="0"/>
              <a:t>3/29/2026</a:t>
            </a:fld>
            <a:endParaRPr lang="en-US"/>
          </a:p>
        </p:txBody>
      </p:sp>
      <p:sp>
        <p:nvSpPr>
          <p:cNvPr id="5" name="Footer Placeholder 4">
            <a:extLst>
              <a:ext uri="{FF2B5EF4-FFF2-40B4-BE49-F238E27FC236}">
                <a16:creationId xmlns:a16="http://schemas.microsoft.com/office/drawing/2014/main" id="{E3DBCFB5-E657-159F-469C-F53CF190FC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AEEA43-CBB1-9EF9-46C6-7CE9349A5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616973-8972-43CE-9554-7DBC3D65FEB5}" type="slidenum">
              <a:rPr lang="en-US" smtClean="0"/>
              <a:t>‹#›</a:t>
            </a:fld>
            <a:endParaRPr lang="en-US"/>
          </a:p>
        </p:txBody>
      </p:sp>
    </p:spTree>
    <p:extLst>
      <p:ext uri="{BB962C8B-B14F-4D97-AF65-F5344CB8AC3E}">
        <p14:creationId xmlns:p14="http://schemas.microsoft.com/office/powerpoint/2010/main" val="2305813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AED8-063F-F5DB-B506-F3B334A21F19}"/>
              </a:ext>
            </a:extLst>
          </p:cNvPr>
          <p:cNvSpPr>
            <a:spLocks noGrp="1"/>
          </p:cNvSpPr>
          <p:nvPr>
            <p:ph type="ctrTitle"/>
          </p:nvPr>
        </p:nvSpPr>
        <p:spPr/>
        <p:txBody>
          <a:bodyPr>
            <a:noAutofit/>
          </a:bodyPr>
          <a:lstStyle/>
          <a:p>
            <a:r>
              <a:rPr lang="en-US" sz="3200" dirty="0"/>
              <a:t>Strategic Cost Management in Interior Projects: Role of Digital Estimation and Vendor Management in Controlling Cost Overruns and Improving Profitability</a:t>
            </a:r>
          </a:p>
        </p:txBody>
      </p:sp>
      <p:sp>
        <p:nvSpPr>
          <p:cNvPr id="3" name="Subtitle 2">
            <a:extLst>
              <a:ext uri="{FF2B5EF4-FFF2-40B4-BE49-F238E27FC236}">
                <a16:creationId xmlns:a16="http://schemas.microsoft.com/office/drawing/2014/main" id="{61B3F7F3-8231-F319-6E54-5AEDB0D66D25}"/>
              </a:ext>
            </a:extLst>
          </p:cNvPr>
          <p:cNvSpPr>
            <a:spLocks noGrp="1"/>
          </p:cNvSpPr>
          <p:nvPr>
            <p:ph type="subTitle" idx="1"/>
          </p:nvPr>
        </p:nvSpPr>
        <p:spPr>
          <a:xfrm>
            <a:off x="1524000" y="4214191"/>
            <a:ext cx="9144000" cy="445274"/>
          </a:xfrm>
        </p:spPr>
        <p:txBody>
          <a:bodyPr>
            <a:normAutofit/>
          </a:bodyPr>
          <a:lstStyle/>
          <a:p>
            <a:r>
              <a:rPr lang="en-US" sz="1800" dirty="0"/>
              <a:t>A Digital Blueprint for Precision, Punctuality, and Profit</a:t>
            </a:r>
            <a:endParaRPr lang="en-US" sz="1200" dirty="0"/>
          </a:p>
        </p:txBody>
      </p:sp>
      <p:sp>
        <p:nvSpPr>
          <p:cNvPr id="4" name="Subtitle 2">
            <a:extLst>
              <a:ext uri="{FF2B5EF4-FFF2-40B4-BE49-F238E27FC236}">
                <a16:creationId xmlns:a16="http://schemas.microsoft.com/office/drawing/2014/main" id="{7D9749E3-58CC-8220-2127-A135D874A113}"/>
              </a:ext>
            </a:extLst>
          </p:cNvPr>
          <p:cNvSpPr txBox="1">
            <a:spLocks/>
          </p:cNvSpPr>
          <p:nvPr/>
        </p:nvSpPr>
        <p:spPr>
          <a:xfrm>
            <a:off x="149750" y="5735637"/>
            <a:ext cx="9144000" cy="10436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b="1" i="1" dirty="0"/>
              <a:t>Project Presented by</a:t>
            </a:r>
          </a:p>
          <a:p>
            <a:pPr algn="l"/>
            <a:r>
              <a:rPr lang="en-US" sz="1600" b="1" i="1" dirty="0"/>
              <a:t>Name</a:t>
            </a:r>
            <a:r>
              <a:rPr lang="en-US" sz="1600" i="1" dirty="0"/>
              <a:t>: Charumathi Baskaran</a:t>
            </a:r>
          </a:p>
          <a:p>
            <a:pPr algn="l"/>
            <a:r>
              <a:rPr lang="en-US" sz="1600" b="1" dirty="0"/>
              <a:t>Roll Number</a:t>
            </a:r>
            <a:r>
              <a:rPr lang="en-US" sz="1600" dirty="0"/>
              <a:t>: 24EMBA1270</a:t>
            </a:r>
          </a:p>
        </p:txBody>
      </p:sp>
    </p:spTree>
    <p:extLst>
      <p:ext uri="{BB962C8B-B14F-4D97-AF65-F5344CB8AC3E}">
        <p14:creationId xmlns:p14="http://schemas.microsoft.com/office/powerpoint/2010/main" val="2540587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DEB3-7D1E-CEA6-FC0B-F7CCC94AEEA2}"/>
              </a:ext>
            </a:extLst>
          </p:cNvPr>
          <p:cNvSpPr>
            <a:spLocks noGrp="1"/>
          </p:cNvSpPr>
          <p:nvPr>
            <p:ph type="title"/>
          </p:nvPr>
        </p:nvSpPr>
        <p:spPr/>
        <p:txBody>
          <a:bodyPr>
            <a:normAutofit/>
          </a:bodyPr>
          <a:lstStyle/>
          <a:p>
            <a:r>
              <a:rPr lang="en-US" dirty="0"/>
              <a:t>1. Problem Identification</a:t>
            </a:r>
          </a:p>
        </p:txBody>
      </p:sp>
      <p:sp>
        <p:nvSpPr>
          <p:cNvPr id="3" name="Content Placeholder 2">
            <a:extLst>
              <a:ext uri="{FF2B5EF4-FFF2-40B4-BE49-F238E27FC236}">
                <a16:creationId xmlns:a16="http://schemas.microsoft.com/office/drawing/2014/main" id="{F79E9BEA-9EFE-1DE5-54E0-2047556F2F9A}"/>
              </a:ext>
            </a:extLst>
          </p:cNvPr>
          <p:cNvSpPr>
            <a:spLocks noGrp="1"/>
          </p:cNvSpPr>
          <p:nvPr>
            <p:ph idx="1"/>
          </p:nvPr>
        </p:nvSpPr>
        <p:spPr/>
        <p:txBody>
          <a:bodyPr>
            <a:normAutofit lnSpcReduction="10000"/>
          </a:bodyPr>
          <a:lstStyle/>
          <a:p>
            <a:r>
              <a:rPr lang="en-US" b="1" dirty="0"/>
              <a:t>Pervasive Overruns</a:t>
            </a:r>
            <a:r>
              <a:rPr lang="en-US" dirty="0"/>
              <a:t>: Nine out of ten construction projects experience cost overruns, with large projects running up to 80% over budget and 20% behind schedule. The industry average overrun is a significant 28%. </a:t>
            </a:r>
          </a:p>
          <a:p>
            <a:r>
              <a:rPr lang="en-US" b="1" dirty="0"/>
              <a:t>Core Drivers</a:t>
            </a:r>
            <a:r>
              <a:rPr lang="en-US" dirty="0"/>
              <a:t>: Inaccurate manual estimates, inefficient vendor management, and frequent design changes are primary causes. Poor communication alone is the root of project failure one-third of the time. </a:t>
            </a:r>
          </a:p>
          <a:p>
            <a:r>
              <a:rPr lang="en-US" b="1" dirty="0"/>
              <a:t>Tanishq's Bottom-Line Risk</a:t>
            </a:r>
            <a:r>
              <a:rPr lang="en-US" dirty="0"/>
              <a:t>: For premium retail fit-outs, these overruns directly erode profitability, delay store openings, and risk brand image consistency.</a:t>
            </a:r>
          </a:p>
        </p:txBody>
      </p:sp>
    </p:spTree>
    <p:extLst>
      <p:ext uri="{BB962C8B-B14F-4D97-AF65-F5344CB8AC3E}">
        <p14:creationId xmlns:p14="http://schemas.microsoft.com/office/powerpoint/2010/main" val="395494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BB17-541F-FFB0-216E-DC48B1B46A2C}"/>
              </a:ext>
            </a:extLst>
          </p:cNvPr>
          <p:cNvSpPr>
            <a:spLocks noGrp="1"/>
          </p:cNvSpPr>
          <p:nvPr>
            <p:ph type="title"/>
          </p:nvPr>
        </p:nvSpPr>
        <p:spPr/>
        <p:txBody>
          <a:bodyPr/>
          <a:lstStyle/>
          <a:p>
            <a:r>
              <a:rPr lang="en-US" dirty="0"/>
              <a:t>2. Managerial and Industrial Relevance</a:t>
            </a:r>
          </a:p>
        </p:txBody>
      </p:sp>
      <p:sp>
        <p:nvSpPr>
          <p:cNvPr id="3" name="Content Placeholder 2">
            <a:extLst>
              <a:ext uri="{FF2B5EF4-FFF2-40B4-BE49-F238E27FC236}">
                <a16:creationId xmlns:a16="http://schemas.microsoft.com/office/drawing/2014/main" id="{84F0DC21-E37F-AB82-5A1C-2364B86815E2}"/>
              </a:ext>
            </a:extLst>
          </p:cNvPr>
          <p:cNvSpPr>
            <a:spLocks noGrp="1"/>
          </p:cNvSpPr>
          <p:nvPr>
            <p:ph idx="1"/>
          </p:nvPr>
        </p:nvSpPr>
        <p:spPr/>
        <p:txBody>
          <a:bodyPr>
            <a:normAutofit lnSpcReduction="10000"/>
          </a:bodyPr>
          <a:lstStyle/>
          <a:p>
            <a:r>
              <a:rPr lang="en-US" b="1" dirty="0"/>
              <a:t>Digital ROI</a:t>
            </a:r>
            <a:r>
              <a:rPr lang="en-US" dirty="0"/>
              <a:t>: Firms using Building Information Modeling (BIM) report a 20-30% reduction in project costs. Digital transformation initiatives have shown an average ROI of 3.5x for firms investing over $1M. </a:t>
            </a:r>
          </a:p>
          <a:p>
            <a:r>
              <a:rPr lang="en-US" b="1" dirty="0"/>
              <a:t>Speed &amp; Efficiency</a:t>
            </a:r>
            <a:r>
              <a:rPr lang="en-US" dirty="0"/>
              <a:t>: Digital tools accelerate project delivery. Cloud adoption has yielded 25% faster project completion, and AI-powered estimating can be up to 80% faster.</a:t>
            </a:r>
          </a:p>
          <a:p>
            <a:r>
              <a:rPr lang="en-US" b="1" dirty="0"/>
              <a:t>Market Shift</a:t>
            </a:r>
            <a:r>
              <a:rPr lang="en-US" dirty="0"/>
              <a:t>: The global construction digital transformation market is projected to grow from $12.5B in 2023 to $45B by 2030. Adopting these tools is no longer optional but a competitive necessity.</a:t>
            </a:r>
          </a:p>
        </p:txBody>
      </p:sp>
    </p:spTree>
    <p:extLst>
      <p:ext uri="{BB962C8B-B14F-4D97-AF65-F5344CB8AC3E}">
        <p14:creationId xmlns:p14="http://schemas.microsoft.com/office/powerpoint/2010/main" val="217618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63083-0EC0-5EB7-C8DC-8E7E11827603}"/>
              </a:ext>
            </a:extLst>
          </p:cNvPr>
          <p:cNvSpPr>
            <a:spLocks noGrp="1"/>
          </p:cNvSpPr>
          <p:nvPr>
            <p:ph type="title"/>
          </p:nvPr>
        </p:nvSpPr>
        <p:spPr/>
        <p:txBody>
          <a:bodyPr/>
          <a:lstStyle/>
          <a:p>
            <a:r>
              <a:rPr lang="en-US" dirty="0"/>
              <a:t>3. Objectives and Scope</a:t>
            </a:r>
          </a:p>
        </p:txBody>
      </p:sp>
      <p:sp>
        <p:nvSpPr>
          <p:cNvPr id="3" name="Content Placeholder 2">
            <a:extLst>
              <a:ext uri="{FF2B5EF4-FFF2-40B4-BE49-F238E27FC236}">
                <a16:creationId xmlns:a16="http://schemas.microsoft.com/office/drawing/2014/main" id="{86BC8C2A-EA7C-AD17-EA5F-B85E9BFDE8D9}"/>
              </a:ext>
            </a:extLst>
          </p:cNvPr>
          <p:cNvSpPr>
            <a:spLocks noGrp="1"/>
          </p:cNvSpPr>
          <p:nvPr>
            <p:ph idx="1"/>
          </p:nvPr>
        </p:nvSpPr>
        <p:spPr/>
        <p:txBody>
          <a:bodyPr>
            <a:normAutofit/>
          </a:bodyPr>
          <a:lstStyle/>
          <a:p>
            <a:r>
              <a:rPr lang="en-US" b="1" dirty="0"/>
              <a:t>Primary Objective</a:t>
            </a:r>
            <a:r>
              <a:rPr lang="en-US" dirty="0"/>
              <a:t>: To develop a strategic framework integrating digital estimation and vendor management to cut project cost overruns by a target of 15-20%.</a:t>
            </a:r>
          </a:p>
          <a:p>
            <a:r>
              <a:rPr lang="en-US" b="1" dirty="0"/>
              <a:t>Key Goals</a:t>
            </a:r>
            <a:r>
              <a:rPr lang="en-US" dirty="0"/>
              <a:t>:</a:t>
            </a:r>
          </a:p>
          <a:p>
            <a:pPr lvl="1"/>
            <a:r>
              <a:rPr lang="en-US" b="1" dirty="0"/>
              <a:t>Estimation</a:t>
            </a:r>
            <a:r>
              <a:rPr lang="en-US" dirty="0"/>
              <a:t>: Validate how digital tools increase budget accuracy.</a:t>
            </a:r>
          </a:p>
          <a:p>
            <a:pPr lvl="1"/>
            <a:r>
              <a:rPr lang="en-US" b="1" dirty="0"/>
              <a:t>Vendor Management</a:t>
            </a:r>
            <a:r>
              <a:rPr lang="en-US" dirty="0"/>
              <a:t>: Prove that a centralized system reduces procurement costs and delays.</a:t>
            </a:r>
          </a:p>
          <a:p>
            <a:r>
              <a:rPr lang="en-US" b="1" dirty="0"/>
              <a:t>Scope</a:t>
            </a:r>
            <a:r>
              <a:rPr lang="en-US" dirty="0"/>
              <a:t>: The study is focused specifically on the interior fit-out phase for new Tanishq showrooms, analyzing past project data and current market solutions.</a:t>
            </a:r>
          </a:p>
        </p:txBody>
      </p:sp>
    </p:spTree>
    <p:extLst>
      <p:ext uri="{BB962C8B-B14F-4D97-AF65-F5344CB8AC3E}">
        <p14:creationId xmlns:p14="http://schemas.microsoft.com/office/powerpoint/2010/main" val="2827934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D41FB-F235-49D3-D8DE-9BBA16BCB9E5}"/>
              </a:ext>
            </a:extLst>
          </p:cNvPr>
          <p:cNvSpPr>
            <a:spLocks noGrp="1"/>
          </p:cNvSpPr>
          <p:nvPr>
            <p:ph type="title"/>
          </p:nvPr>
        </p:nvSpPr>
        <p:spPr/>
        <p:txBody>
          <a:bodyPr/>
          <a:lstStyle/>
          <a:p>
            <a:r>
              <a:rPr lang="en-US" dirty="0"/>
              <a:t>4. Methodology and Approach</a:t>
            </a:r>
          </a:p>
        </p:txBody>
      </p:sp>
      <p:sp>
        <p:nvSpPr>
          <p:cNvPr id="3" name="Content Placeholder 2">
            <a:extLst>
              <a:ext uri="{FF2B5EF4-FFF2-40B4-BE49-F238E27FC236}">
                <a16:creationId xmlns:a16="http://schemas.microsoft.com/office/drawing/2014/main" id="{C7155082-4C0A-0803-FA74-782D2C9C636E}"/>
              </a:ext>
            </a:extLst>
          </p:cNvPr>
          <p:cNvSpPr>
            <a:spLocks noGrp="1"/>
          </p:cNvSpPr>
          <p:nvPr>
            <p:ph idx="1"/>
          </p:nvPr>
        </p:nvSpPr>
        <p:spPr/>
        <p:txBody>
          <a:bodyPr>
            <a:normAutofit lnSpcReduction="10000"/>
          </a:bodyPr>
          <a:lstStyle/>
          <a:p>
            <a:r>
              <a:rPr lang="en-US" b="1" dirty="0"/>
              <a:t>Data-Driven Analysis</a:t>
            </a:r>
            <a:r>
              <a:rPr lang="en-US" dirty="0"/>
              <a:t>: Combine quantitative analysis of past Tanishq project budgets with qualitative insights from interviews with project managers and key vendors.</a:t>
            </a:r>
          </a:p>
          <a:p>
            <a:r>
              <a:rPr lang="en-US" b="1" dirty="0"/>
              <a:t>Benchmarking</a:t>
            </a:r>
            <a:r>
              <a:rPr lang="en-US" dirty="0"/>
              <a:t>: Evaluate leading digital estimation and vendor management software platforms against industry best practices.</a:t>
            </a:r>
          </a:p>
          <a:p>
            <a:r>
              <a:rPr lang="en-US" b="1" dirty="0"/>
              <a:t>Strategic Framework</a:t>
            </a:r>
            <a:r>
              <a:rPr lang="en-US" dirty="0"/>
              <a:t>: Develop a phased implementation roadmap, complete with a cost-benefit analysis and clear ROI projections.</a:t>
            </a:r>
          </a:p>
          <a:p>
            <a:r>
              <a:rPr lang="en-US" b="1" dirty="0"/>
              <a:t>Actionable Output</a:t>
            </a:r>
            <a:r>
              <a:rPr lang="en-US" dirty="0"/>
              <a:t>: The final deliverable will be a clear, evidence-based business case for adoption, designed for executive decision-making.</a:t>
            </a:r>
          </a:p>
        </p:txBody>
      </p:sp>
    </p:spTree>
    <p:extLst>
      <p:ext uri="{BB962C8B-B14F-4D97-AF65-F5344CB8AC3E}">
        <p14:creationId xmlns:p14="http://schemas.microsoft.com/office/powerpoint/2010/main" val="1866553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14</TotalTime>
  <Words>1219</Words>
  <Application>Microsoft Office PowerPoint</Application>
  <PresentationFormat>Widescreen</PresentationFormat>
  <Paragraphs>53</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Strategic Cost Management in Interior Projects: Role of Digital Estimation and Vendor Management in Controlling Cost Overruns and Improving Profitability</vt:lpstr>
      <vt:lpstr>1. Problem Identification</vt:lpstr>
      <vt:lpstr>2. Managerial and Industrial Relevance</vt:lpstr>
      <vt:lpstr>3. Objectives and Scope</vt:lpstr>
      <vt:lpstr>4. Methodology and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Chinnadurai, Vigneshwara</dc:creator>
  <cp:lastModifiedBy>Chinnadurai, Vigneshwara</cp:lastModifiedBy>
  <cp:revision>3</cp:revision>
  <dcterms:created xsi:type="dcterms:W3CDTF">2026-03-29T03:32:12Z</dcterms:created>
  <dcterms:modified xsi:type="dcterms:W3CDTF">2026-03-29T03:46:28Z</dcterms:modified>
</cp:coreProperties>
</file>